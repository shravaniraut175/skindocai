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itn/O6E6YJrF9ZUJn0YAMvmZy8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26BB4D0-DB60-4BEE-9A97-63557F111F3D}">
  <a:tblStyle styleId="{C26BB4D0-DB60-4BEE-9A97-63557F111F3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1c3260de0d9548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h1c3260de0d9548c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5e1457deb0e08fb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h5e1457deb0e08fba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5e1457deb0e08fb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h5e1457deb0e08fba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5e1457deb0e08fb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h5e1457deb0e08fba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5e1457deb0e08fb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h5e1457deb0e08fba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94556" y="1765254"/>
            <a:ext cx="9144000" cy="126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en-US" sz="4000">
                <a:latin typeface="Times New Roman"/>
                <a:ea typeface="Times New Roman"/>
                <a:cs typeface="Times New Roman"/>
                <a:sym typeface="Times New Roman"/>
              </a:rPr>
              <a:t>SkinDocAI: AI-Based Skin Cancer Detection from Medical PDF Images Using HAM10000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351399"/>
            <a:ext cx="91440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Presented By -</a:t>
            </a:r>
            <a:endParaRPr b="1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40    Shravani S. Raut</a:t>
            </a: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i="1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Under the guidance of</a:t>
            </a:r>
            <a:endParaRPr b="1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Ms. Kranti Gule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Academic Year</a:t>
            </a:r>
            <a:endParaRPr sz="17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2026-27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76693" y="283633"/>
            <a:ext cx="11238614" cy="10879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Vidyavardhini’s College of Engineering and Technology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Department of Artificial Intelligence and Data Science</a:t>
            </a:r>
            <a:endParaRPr b="1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ollege_New_Logo" id="87" name="Google Shape;8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690" y="283845"/>
            <a:ext cx="1218565" cy="1264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 txBox="1"/>
          <p:nvPr>
            <p:ph type="title"/>
          </p:nvPr>
        </p:nvSpPr>
        <p:spPr>
          <a:xfrm>
            <a:off x="838200" y="365125"/>
            <a:ext cx="10515600" cy="5811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93" name="Google Shape;93;p4"/>
          <p:cNvSpPr txBox="1"/>
          <p:nvPr>
            <p:ph idx="1" type="body"/>
          </p:nvPr>
        </p:nvSpPr>
        <p:spPr>
          <a:xfrm>
            <a:off x="838200" y="1201475"/>
            <a:ext cx="10703700" cy="49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Skin cancer is one of the most common forms of cancer, and early identification of suspicious skin lesions can help patients seek appropriate medical evaluation at an earlier stage.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Traditional assessment of skin lesions relies heavily on visual examination and dermoscopic analysis by trained medical professionals.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However, the increasing availability of medical images has created opportunities for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Artificial Intelligence (AI)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Deep Learning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to assist in automated skin-lesion analysis.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SkinDocAI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is an AI-based skin cancer detection system developed using the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HAM10000 (Human Against Machine with 10000 training images)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dataset. The system focuses on binary classification of skin-lesion images into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Benign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Potentially Malignant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categories.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Benign = Non-cancerous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Clr>
                <a:schemeClr val="dk1"/>
              </a:buClr>
              <a:buSzPts val="1100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Potentially Malignant = Possibly cancerous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 txBox="1"/>
          <p:nvPr>
            <p:ph type="title"/>
          </p:nvPr>
        </p:nvSpPr>
        <p:spPr>
          <a:xfrm>
            <a:off x="838200" y="365126"/>
            <a:ext cx="10515600" cy="613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Problem Statement and Objective </a:t>
            </a:r>
            <a:endParaRPr/>
          </a:p>
        </p:txBody>
      </p:sp>
      <p:sp>
        <p:nvSpPr>
          <p:cNvPr id="99" name="Google Shape;99;p6"/>
          <p:cNvSpPr txBox="1"/>
          <p:nvPr>
            <p:ph idx="1" type="body"/>
          </p:nvPr>
        </p:nvSpPr>
        <p:spPr>
          <a:xfrm>
            <a:off x="838200" y="1275907"/>
            <a:ext cx="10515600" cy="4901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Manual examination of skin infection requires medical expertise and can be difficult to perform consistently when large numbers of images need to be assessed. Furthermore, skin-lesion images may be embedded inside medical reports or PDF documents rather than being available as individual image files.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Therefore, there is a need for an AI-based system that can automatically extract skin-cancer images from PDF documents and perform preliminary classification of the lesion based on its visual characteristics.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 main objective of SkinDocAI is: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To develop an AI-based skin cancer detection system that extracts a skin-infection image from an uploaded PDF and classifies it as Benign or Potentially Malignant using a deep learning model.</a:t>
            </a:r>
            <a:endParaRPr b="1" i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1c3260de0d9548cf_0_0"/>
          <p:cNvSpPr txBox="1"/>
          <p:nvPr>
            <p:ph type="title"/>
          </p:nvPr>
        </p:nvSpPr>
        <p:spPr>
          <a:xfrm>
            <a:off x="838200" y="365126"/>
            <a:ext cx="10515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/>
          </a:p>
        </p:txBody>
      </p:sp>
      <p:sp>
        <p:nvSpPr>
          <p:cNvPr id="105" name="Google Shape;105;h1c3260de0d9548cf_0_0"/>
          <p:cNvSpPr txBox="1"/>
          <p:nvPr>
            <p:ph idx="1" type="body"/>
          </p:nvPr>
        </p:nvSpPr>
        <p:spPr>
          <a:xfrm>
            <a:off x="838200" y="4747338"/>
            <a:ext cx="10515600" cy="15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Research Gap -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Most existing systems focus on directly uploading or analyzing individual skin images. SkinDocAI extends this workflow by accepting a PDF document, automatically extracting the embedded skin image, and then performing AI-based classification. This combines PDF processing, image processing, and deep learning into a single application.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6" name="Google Shape;106;h1c3260de0d9548cf_0_0"/>
          <p:cNvGraphicFramePr/>
          <p:nvPr/>
        </p:nvGraphicFramePr>
        <p:xfrm>
          <a:off x="1121625" y="1064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{C26BB4D0-DB60-4BEE-9A97-63557F111F3D}</a:tableStyleId>
              </a:tblPr>
              <a:tblGrid>
                <a:gridCol w="462225"/>
                <a:gridCol w="982025"/>
                <a:gridCol w="1800775"/>
                <a:gridCol w="6987150"/>
              </a:tblGrid>
              <a:tr h="643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Sr. No.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 / Dataset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Findings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75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Tschandl et al.,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HAM10000 Dataset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Introduced a dataset of </a:t>
                      </a:r>
                      <a:r>
                        <a:rPr b="1"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10,015 dermoscopic images</a:t>
                      </a: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covering seven common types of pigmented skin lesions. It provides a useful benchmark for developing AI-based skin-lesion classification systems.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75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Esteva et al.,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 Convolutional Neural Network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Demonstrated that deep learning can classify skin-cancer images and achieve performance comparable to trained dermatologists in specific experimental settings.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75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Haenssle et al.,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CNN-based melanoma classification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Compared a deep-learning system with dermatologists for melanoma recognition and showed the potential of CNNs for automated skin-lesion assessment.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/>
          <p:nvPr>
            <p:ph type="title"/>
          </p:nvPr>
        </p:nvSpPr>
        <p:spPr>
          <a:xfrm>
            <a:off x="838200" y="365126"/>
            <a:ext cx="10515600" cy="7512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/>
          </a:p>
        </p:txBody>
      </p:sp>
      <p:sp>
        <p:nvSpPr>
          <p:cNvPr id="112" name="Google Shape;112;p8"/>
          <p:cNvSpPr txBox="1"/>
          <p:nvPr>
            <p:ph idx="1" type="body"/>
          </p:nvPr>
        </p:nvSpPr>
        <p:spPr>
          <a:xfrm>
            <a:off x="691025" y="1329917"/>
            <a:ext cx="7611900" cy="47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The proposed SkinDocAI system consists of five major components: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1. PDF Upload -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The user uploads a PDF containing a skin-lesion image.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2. Image Extraction -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PyMuPDF scans the PDF and extracts the embedded skin image.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3. Image Preprocessing -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The extracted image is resized to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224 × 224 pixels and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normalized to the range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0–1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4. Deep Learning Classification -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The preprocessed image is passed to the trained model.keras model.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The model produces a prediction score.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Prediction &lt; 0.5 -&gt; Benign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Prediction ≥ 0.5 -&gt; Potentially Malignant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5. Result Display -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Extracted image, Prediction, Confidence score, Model information, Medical disclaimer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3" name="Google Shape;113;p8"/>
          <p:cNvPicPr preferRelativeResize="0"/>
          <p:nvPr/>
        </p:nvPicPr>
        <p:blipFill rotWithShape="1">
          <a:blip r:embed="rId3">
            <a:alphaModFix/>
          </a:blip>
          <a:srcRect b="0" l="31941" r="32808" t="0"/>
          <a:stretch/>
        </p:blipFill>
        <p:spPr>
          <a:xfrm>
            <a:off x="8140275" y="1116425"/>
            <a:ext cx="3438275" cy="532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"/>
          <p:cNvSpPr txBox="1"/>
          <p:nvPr>
            <p:ph type="title"/>
          </p:nvPr>
        </p:nvSpPr>
        <p:spPr>
          <a:xfrm>
            <a:off x="838200" y="365125"/>
            <a:ext cx="10515600" cy="506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Methodology used</a:t>
            </a:r>
            <a:endParaRPr/>
          </a:p>
        </p:txBody>
      </p:sp>
      <p:sp>
        <p:nvSpPr>
          <p:cNvPr id="119" name="Google Shape;119;p9"/>
          <p:cNvSpPr txBox="1"/>
          <p:nvPr>
            <p:ph idx="1" type="body"/>
          </p:nvPr>
        </p:nvSpPr>
        <p:spPr>
          <a:xfrm>
            <a:off x="838200" y="1148316"/>
            <a:ext cx="10515600" cy="5028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Step 1: Dataset Collection -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HAM10000 dataset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was used for training and evaluation. For the current implementation,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1,200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images were available and successfully matched with the metadata.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Step 2: Data Preparation -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The metadata was linked with the corresponding image files using the image_id.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The resulting dataset contained: 1,200 matched records.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Step 3: Binary Classification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The original diagnostic categories were converted into two classes: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0 → Benign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1 → Malignant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Here, we focus on skin cancer detection through binary classification.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0" name="Google Shape;120;p9"/>
          <p:cNvGraphicFramePr/>
          <p:nvPr/>
        </p:nvGraphicFramePr>
        <p:xfrm>
          <a:off x="4083950" y="2039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{C26BB4D0-DB60-4BEE-9A97-63557F111F3D}</a:tableStyleId>
              </a:tblPr>
              <a:tblGrid>
                <a:gridCol w="2061725"/>
                <a:gridCol w="1716200"/>
              </a:tblGrid>
              <a:tr h="171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Category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Count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Benign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964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Malignant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236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Total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1,200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5e1457deb0e08fba_0_30"/>
          <p:cNvSpPr txBox="1"/>
          <p:nvPr>
            <p:ph type="title"/>
          </p:nvPr>
        </p:nvSpPr>
        <p:spPr>
          <a:xfrm>
            <a:off x="838200" y="365125"/>
            <a:ext cx="105156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Methodology used</a:t>
            </a:r>
            <a:endParaRPr/>
          </a:p>
        </p:txBody>
      </p:sp>
      <p:sp>
        <p:nvSpPr>
          <p:cNvPr id="126" name="Google Shape;126;h5e1457deb0e08fba_0_30"/>
          <p:cNvSpPr txBox="1"/>
          <p:nvPr>
            <p:ph idx="1" type="body"/>
          </p:nvPr>
        </p:nvSpPr>
        <p:spPr>
          <a:xfrm>
            <a:off x="838200" y="1148316"/>
            <a:ext cx="10515600" cy="50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Step 4: Image Preprocessing -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Each image is resized to: 224 × 224 pixels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Pixel values are normalized:Original: 0–255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This makes the images suitable for deep-learning inference.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Step 5: Dataset Split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The available images were divided into: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Training:   960 images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Validation: 240 images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Step 6: Model Training -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 deep-learning image-classification model was trained using the prepared HAM10000 images.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During training, the model reached very high performance on the current validation split.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Step 7: PDF Processing -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The user uploads a PDF through the Streamlit application.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PyMuPDF is used to: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AutoNum type="arabicPeriod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Open the PDF.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AutoNum type="arabicPeriod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Scan its pages.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AutoNum type="arabicPeriod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Identify embedded images.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AutoNum type="arabicPeriod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Extract the image.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AutoNum type="arabicPeriod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Convert it into RGB format.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5e1457deb0e08fba_0_42"/>
          <p:cNvSpPr txBox="1"/>
          <p:nvPr>
            <p:ph type="title"/>
          </p:nvPr>
        </p:nvSpPr>
        <p:spPr>
          <a:xfrm>
            <a:off x="838200" y="365125"/>
            <a:ext cx="105156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Methodology used</a:t>
            </a:r>
            <a:endParaRPr/>
          </a:p>
        </p:txBody>
      </p:sp>
      <p:sp>
        <p:nvSpPr>
          <p:cNvPr id="132" name="Google Shape;132;h5e1457deb0e08fba_0_42"/>
          <p:cNvSpPr txBox="1"/>
          <p:nvPr>
            <p:ph idx="1" type="body"/>
          </p:nvPr>
        </p:nvSpPr>
        <p:spPr>
          <a:xfrm>
            <a:off x="838200" y="1148316"/>
            <a:ext cx="10515600" cy="50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Step 8: Prediction -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The extracted image is resized and normalized before being passed to the trained model.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Example: Prediction = 0.7105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Since: 0.7105 ≥ 0.5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the system produces: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Potentially Malignant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with a displayed model confidence of: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71.05%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Step 9: Result Visualization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The final Streamlit interface displays the extracted image and AI analysis.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5e1457deb0e08fba_0_56"/>
          <p:cNvSpPr txBox="1"/>
          <p:nvPr>
            <p:ph type="title"/>
          </p:nvPr>
        </p:nvSpPr>
        <p:spPr>
          <a:xfrm>
            <a:off x="838200" y="365126"/>
            <a:ext cx="10515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/>
          </a:p>
        </p:txBody>
      </p:sp>
      <p:sp>
        <p:nvSpPr>
          <p:cNvPr id="138" name="Google Shape;138;h5e1457deb0e08fba_0_56"/>
          <p:cNvSpPr txBox="1"/>
          <p:nvPr>
            <p:ph idx="1" type="body"/>
          </p:nvPr>
        </p:nvSpPr>
        <p:spPr>
          <a:xfrm>
            <a:off x="838200" y="1286550"/>
            <a:ext cx="3604200" cy="48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Sample PDF Test Report 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 system automatically extracts a skin-lesion image from a PDF document and performs AI-based skin cancer classification on the extracted image.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9" name="Google Shape;139;h5e1457deb0e08fba_0_56"/>
          <p:cNvGrpSpPr/>
          <p:nvPr/>
        </p:nvGrpSpPr>
        <p:grpSpPr>
          <a:xfrm>
            <a:off x="5477100" y="1286538"/>
            <a:ext cx="5463399" cy="5258276"/>
            <a:chOff x="2969225" y="1098350"/>
            <a:chExt cx="5463399" cy="5258276"/>
          </a:xfrm>
        </p:grpSpPr>
        <p:pic>
          <p:nvPicPr>
            <p:cNvPr id="140" name="Google Shape;140;h5e1457deb0e08fba_0_56"/>
            <p:cNvPicPr preferRelativeResize="0"/>
            <p:nvPr/>
          </p:nvPicPr>
          <p:blipFill rotWithShape="1">
            <a:blip r:embed="rId3">
              <a:alphaModFix/>
            </a:blip>
            <a:srcRect b="73548" l="0" r="0" t="0"/>
            <a:stretch/>
          </p:blipFill>
          <p:spPr>
            <a:xfrm>
              <a:off x="2969225" y="1098350"/>
              <a:ext cx="5463399" cy="1716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h5e1457deb0e08fba_0_56"/>
            <p:cNvPicPr preferRelativeResize="0"/>
            <p:nvPr/>
          </p:nvPicPr>
          <p:blipFill rotWithShape="1">
            <a:blip r:embed="rId3">
              <a:alphaModFix/>
            </a:blip>
            <a:srcRect b="15511" l="0" r="0" t="25173"/>
            <a:stretch/>
          </p:blipFill>
          <p:spPr>
            <a:xfrm>
              <a:off x="2969225" y="2815250"/>
              <a:ext cx="5463399" cy="3541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5e1457deb0e08fba_0_64"/>
          <p:cNvSpPr txBox="1"/>
          <p:nvPr>
            <p:ph type="title"/>
          </p:nvPr>
        </p:nvSpPr>
        <p:spPr>
          <a:xfrm>
            <a:off x="838200" y="365126"/>
            <a:ext cx="10515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/>
          </a:p>
        </p:txBody>
      </p:sp>
      <p:pic>
        <p:nvPicPr>
          <p:cNvPr id="147" name="Google Shape;147;h5e1457deb0e08fba_0_64"/>
          <p:cNvPicPr preferRelativeResize="0"/>
          <p:nvPr/>
        </p:nvPicPr>
        <p:blipFill rotWithShape="1">
          <a:blip r:embed="rId3">
            <a:alphaModFix/>
          </a:blip>
          <a:srcRect b="660" l="0" r="0" t="-660"/>
          <a:stretch/>
        </p:blipFill>
        <p:spPr>
          <a:xfrm>
            <a:off x="1371938" y="896563"/>
            <a:ext cx="9981873" cy="5632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"/>
          <p:cNvSpPr txBox="1"/>
          <p:nvPr>
            <p:ph type="title"/>
          </p:nvPr>
        </p:nvSpPr>
        <p:spPr>
          <a:xfrm>
            <a:off x="838200" y="365126"/>
            <a:ext cx="10515600" cy="644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Conclusions</a:t>
            </a:r>
            <a:endParaRPr/>
          </a:p>
        </p:txBody>
      </p:sp>
      <p:sp>
        <p:nvSpPr>
          <p:cNvPr id="153" name="Google Shape;153;p13"/>
          <p:cNvSpPr txBox="1"/>
          <p:nvPr>
            <p:ph idx="1" type="body"/>
          </p:nvPr>
        </p:nvSpPr>
        <p:spPr>
          <a:xfrm>
            <a:off x="838200" y="1286540"/>
            <a:ext cx="10515600" cy="4890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5720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SkinDocAI demonstrates an AI-based approach for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skin cancer detection from skin-lesion images embedded within PDF documents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The system integrates PDF image extraction, image preprocessing, deep learning-based classification, and a Streamlit web interface into a single workflow.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Using the HAM10000 dataset, the system was developed to classify skin-lesion images into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Benign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Potentially Malignant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categories.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The current implementation successfully processes uploaded PDFs, extracts lesion images, performs model inference, and presents the prediction with a confidence score.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i="1" lang="en-US" sz="1300">
                <a:latin typeface="Times New Roman"/>
                <a:ea typeface="Times New Roman"/>
                <a:cs typeface="Times New Roman"/>
                <a:sym typeface="Times New Roman"/>
              </a:rPr>
              <a:t>The system is intended for </a:t>
            </a:r>
            <a:r>
              <a:rPr b="1" i="1" lang="en-US" sz="1300">
                <a:latin typeface="Times New Roman"/>
                <a:ea typeface="Times New Roman"/>
                <a:cs typeface="Times New Roman"/>
                <a:sym typeface="Times New Roman"/>
              </a:rPr>
              <a:t>educational and research purposes only</a:t>
            </a:r>
            <a:r>
              <a:rPr i="1" lang="en-US" sz="1300">
                <a:latin typeface="Times New Roman"/>
                <a:ea typeface="Times New Roman"/>
                <a:cs typeface="Times New Roman"/>
                <a:sym typeface="Times New Roman"/>
              </a:rPr>
              <a:t> and should not be used as a substitute for professional medical diagnosis.</a:t>
            </a:r>
            <a:endParaRPr i="1"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rtl="0" algn="just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Yellow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2025-10-03T04:51:00Z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51634816203747D183812E56681E16C2_12</vt:lpwstr>
  </property>
  <property fmtid="{D5CDD505-2E9C-101B-9397-08002B2CF9AE}" pid="3" name="KSOProductBuildVer">
    <vt:lpwstr>1033-12.2.0.22549</vt:lpwstr>
  </property>
</Properties>
</file>